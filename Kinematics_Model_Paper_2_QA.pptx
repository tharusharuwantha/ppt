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01</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A stone falls freely from rest and the total distance covered by it in the last second of its motion equals the distance covered by it in the first three seconds of its motion. The stone remains in the air for,</a:t>
            </a:r>
          </a:p>
          <a:p/>
          <a:p>
            <a:r>
              <a:rPr sz="3600">
                <a:solidFill>
                  <a:srgbClr val="0000FF"/>
                </a:solidFill>
                <a:latin typeface="Times New Roman"/>
              </a:rPr>
              <a:t>(1)   6 s</a:t>
            </a:r>
          </a:p>
          <a:p>
            <a:r>
              <a:rPr sz="3600">
                <a:solidFill>
                  <a:srgbClr val="0000FF"/>
                </a:solidFill>
                <a:latin typeface="Times New Roman"/>
              </a:rPr>
              <a:t>(2)   5 s</a:t>
            </a:r>
          </a:p>
          <a:p>
            <a:r>
              <a:rPr sz="3600">
                <a:solidFill>
                  <a:srgbClr val="0000FF"/>
                </a:solidFill>
                <a:latin typeface="Times New Roman"/>
              </a:rPr>
              <a:t>(3)   7 s</a:t>
            </a:r>
          </a:p>
          <a:p>
            <a:r>
              <a:rPr sz="3600">
                <a:solidFill>
                  <a:srgbClr val="0000FF"/>
                </a:solidFill>
                <a:latin typeface="Times New Roman"/>
              </a:rPr>
              <a:t>(4)   4 s</a:t>
            </a:r>
          </a:p>
          <a:p>
            <a:r>
              <a:rPr sz="3600">
                <a:solidFill>
                  <a:srgbClr val="0000FF"/>
                </a:solidFill>
                <a:latin typeface="Times New Roman"/>
              </a:rPr>
              <a:t>(5)   3 s</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02</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A car starting from rest and travelling with uniform acceleration obtains a velocity 5 m s⁻¹ in 2 s. After how many seconds will the car attain a velocity of 15 m s⁻¹?</a:t>
            </a:r>
          </a:p>
          <a:p/>
          <a:p>
            <a:r>
              <a:rPr sz="3600">
                <a:solidFill>
                  <a:srgbClr val="0000FF"/>
                </a:solidFill>
                <a:latin typeface="Times New Roman"/>
              </a:rPr>
              <a:t>(1)   6 s</a:t>
            </a:r>
          </a:p>
          <a:p>
            <a:r>
              <a:rPr sz="3600">
                <a:solidFill>
                  <a:srgbClr val="0000FF"/>
                </a:solidFill>
                <a:latin typeface="Times New Roman"/>
              </a:rPr>
              <a:t>(2)   4 s</a:t>
            </a:r>
          </a:p>
          <a:p>
            <a:r>
              <a:rPr sz="3600">
                <a:solidFill>
                  <a:srgbClr val="0000FF"/>
                </a:solidFill>
                <a:latin typeface="Times New Roman"/>
              </a:rPr>
              <a:t>(3)   8 s</a:t>
            </a:r>
          </a:p>
          <a:p>
            <a:r>
              <a:rPr sz="3600">
                <a:solidFill>
                  <a:srgbClr val="0000FF"/>
                </a:solidFill>
                <a:latin typeface="Times New Roman"/>
              </a:rPr>
              <a:t>(4)   15 s</a:t>
            </a:r>
          </a:p>
          <a:p>
            <a:r>
              <a:rPr sz="3600">
                <a:solidFill>
                  <a:srgbClr val="0000FF"/>
                </a:solidFill>
                <a:latin typeface="Times New Roman"/>
              </a:rPr>
              <a:t>(5)   10 s</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03</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A v-t graph of a moving particle is given below. What are the true statements about it?
(A)  The particle is moving in the same direction at A and D
(B)  The particle is decelerating at B and accelerating at F
(C)  It changes the direction at C and E</a:t>
            </a:r>
          </a:p>
          <a:p/>
          <a:p>
            <a:r>
              <a:rPr sz="3600">
                <a:solidFill>
                  <a:srgbClr val="0000FF"/>
                </a:solidFill>
                <a:latin typeface="Times New Roman"/>
              </a:rPr>
              <a:t>(1)   Only (A) and (B) are correct</a:t>
            </a:r>
          </a:p>
          <a:p>
            <a:r>
              <a:rPr sz="3600">
                <a:solidFill>
                  <a:srgbClr val="0000FF"/>
                </a:solidFill>
                <a:latin typeface="Times New Roman"/>
              </a:rPr>
              <a:t>(2)   Only (A) and (C) are correct</a:t>
            </a:r>
          </a:p>
          <a:p>
            <a:r>
              <a:rPr sz="3600">
                <a:solidFill>
                  <a:srgbClr val="0000FF"/>
                </a:solidFill>
                <a:latin typeface="Times New Roman"/>
              </a:rPr>
              <a:t>(3)   Only (B) and (C) are correct</a:t>
            </a:r>
          </a:p>
          <a:p>
            <a:r>
              <a:rPr sz="3600">
                <a:solidFill>
                  <a:srgbClr val="0000FF"/>
                </a:solidFill>
                <a:latin typeface="Times New Roman"/>
              </a:rPr>
              <a:t>(4)   Only (C) and (D) are correct</a:t>
            </a:r>
          </a:p>
          <a:p>
            <a:r>
              <a:rPr sz="3600">
                <a:solidFill>
                  <a:srgbClr val="0000FF"/>
                </a:solidFill>
                <a:latin typeface="Times New Roman"/>
              </a:rPr>
              <a:t>(5)   All (A), (B) and (C) are correct</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04</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The following statements are about a town X:
(A)  The town is a five mile drive along the winding country road.
(B)  The town sits at an altitude of 940 m.
(C)  The town X is ten miles north of the town Y.</a:t>
            </a:r>
          </a:p>
          <a:p/>
          <a:p>
            <a:r>
              <a:rPr sz="3600">
                <a:solidFill>
                  <a:srgbClr val="0000FF"/>
                </a:solidFill>
                <a:latin typeface="Times New Roman"/>
              </a:rPr>
              <a:t>(1)   only (A) is true</a:t>
            </a:r>
          </a:p>
          <a:p>
            <a:r>
              <a:rPr sz="3600">
                <a:solidFill>
                  <a:srgbClr val="0000FF"/>
                </a:solidFill>
                <a:latin typeface="Times New Roman"/>
              </a:rPr>
              <a:t>(2)   only (B) is true</a:t>
            </a:r>
          </a:p>
          <a:p>
            <a:r>
              <a:rPr sz="3600">
                <a:solidFill>
                  <a:srgbClr val="0000FF"/>
                </a:solidFill>
                <a:latin typeface="Times New Roman"/>
              </a:rPr>
              <a:t>(3)   only (C) is true</a:t>
            </a:r>
          </a:p>
          <a:p>
            <a:r>
              <a:rPr sz="3600">
                <a:solidFill>
                  <a:srgbClr val="0000FF"/>
                </a:solidFill>
                <a:latin typeface="Times New Roman"/>
              </a:rPr>
              <a:t>(4)   only (B) and (C) are true</a:t>
            </a:r>
          </a:p>
          <a:p>
            <a:r>
              <a:rPr sz="3600">
                <a:solidFill>
                  <a:srgbClr val="0000FF"/>
                </a:solidFill>
                <a:latin typeface="Times New Roman"/>
              </a:rPr>
              <a:t>(5)   only (A) and (C) are true</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05</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A rocket, initially at rest, is fired vertically with an upward acceleration of 10 m s⁻². At an altitude of 0.5 km, the engine of the rocket cuts off. Its maximum altitude will be (Ignore the change in gravitational acceleration with altitude)</a:t>
            </a:r>
          </a:p>
          <a:p/>
          <a:p>
            <a:r>
              <a:rPr sz="3600">
                <a:solidFill>
                  <a:srgbClr val="0000FF"/>
                </a:solidFill>
                <a:latin typeface="Times New Roman"/>
              </a:rPr>
              <a:t>(1)   1.9 km</a:t>
            </a:r>
          </a:p>
          <a:p>
            <a:r>
              <a:rPr sz="3600">
                <a:solidFill>
                  <a:srgbClr val="0000FF"/>
                </a:solidFill>
                <a:latin typeface="Times New Roman"/>
              </a:rPr>
              <a:t>(2)   0.5 km</a:t>
            </a:r>
          </a:p>
          <a:p>
            <a:r>
              <a:rPr sz="3600">
                <a:solidFill>
                  <a:srgbClr val="0000FF"/>
                </a:solidFill>
                <a:latin typeface="Times New Roman"/>
              </a:rPr>
              <a:t>(3)   1.5 km</a:t>
            </a:r>
          </a:p>
          <a:p>
            <a:r>
              <a:rPr sz="3600">
                <a:solidFill>
                  <a:srgbClr val="0000FF"/>
                </a:solidFill>
                <a:latin typeface="Times New Roman"/>
              </a:rPr>
              <a:t>(4)   1.0 km</a:t>
            </a:r>
          </a:p>
          <a:p>
            <a:r>
              <a:rPr sz="3600">
                <a:solidFill>
                  <a:srgbClr val="0000FF"/>
                </a:solidFill>
                <a:latin typeface="Times New Roman"/>
              </a:rPr>
              <a:t>(5)   1.6 km</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06</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A ball is projected horizontally with a velocity of 5 m s⁻¹ from the top of a building, 20 m high. The time the ball will take to hit the ground is</a:t>
            </a:r>
          </a:p>
          <a:p/>
          <a:p>
            <a:r>
              <a:rPr sz="3600">
                <a:solidFill>
                  <a:srgbClr val="0000FF"/>
                </a:solidFill>
                <a:latin typeface="Times New Roman"/>
              </a:rPr>
              <a:t>(1)   √2 s</a:t>
            </a:r>
          </a:p>
          <a:p>
            <a:r>
              <a:rPr sz="3600">
                <a:solidFill>
                  <a:srgbClr val="0000FF"/>
                </a:solidFill>
                <a:latin typeface="Times New Roman"/>
              </a:rPr>
              <a:t>(2)   2 s</a:t>
            </a:r>
          </a:p>
          <a:p>
            <a:r>
              <a:rPr sz="3600">
                <a:solidFill>
                  <a:srgbClr val="0000FF"/>
                </a:solidFill>
                <a:latin typeface="Times New Roman"/>
              </a:rPr>
              <a:t>(3)   √3 s</a:t>
            </a:r>
          </a:p>
          <a:p>
            <a:r>
              <a:rPr sz="3600">
                <a:solidFill>
                  <a:srgbClr val="0000FF"/>
                </a:solidFill>
                <a:latin typeface="Times New Roman"/>
              </a:rPr>
              <a:t>(4)   3 s</a:t>
            </a:r>
          </a:p>
          <a:p>
            <a:r>
              <a:rPr sz="3600">
                <a:solidFill>
                  <a:srgbClr val="0000FF"/>
                </a:solidFill>
                <a:latin typeface="Times New Roman"/>
              </a:rPr>
              <a:t>(5)   5 s</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07</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A body displacement–time graph is shown in the figure. (Refer to question paper for figure.)
The corresponding speed (v)–time (t) graph is best represented by:</a:t>
            </a:r>
          </a:p>
          <a:p/>
          <a:p>
            <a:r>
              <a:rPr sz="3600">
                <a:solidFill>
                  <a:srgbClr val="0000FF"/>
                </a:solidFill>
                <a:latin typeface="Times New Roman"/>
              </a:rPr>
              <a:t>(1)   Graph 1</a:t>
            </a:r>
          </a:p>
          <a:p>
            <a:r>
              <a:rPr sz="3600">
                <a:solidFill>
                  <a:srgbClr val="0000FF"/>
                </a:solidFill>
                <a:latin typeface="Times New Roman"/>
              </a:rPr>
              <a:t>(2)   Graph 2</a:t>
            </a:r>
          </a:p>
          <a:p>
            <a:r>
              <a:rPr sz="3600">
                <a:solidFill>
                  <a:srgbClr val="0000FF"/>
                </a:solidFill>
                <a:latin typeface="Times New Roman"/>
              </a:rPr>
              <a:t>(3)   Graph 3</a:t>
            </a:r>
          </a:p>
          <a:p>
            <a:r>
              <a:rPr sz="3600">
                <a:solidFill>
                  <a:srgbClr val="0000FF"/>
                </a:solidFill>
                <a:latin typeface="Times New Roman"/>
              </a:rPr>
              <a:t>(4)   Graph 4</a:t>
            </a:r>
          </a:p>
          <a:p>
            <a:r>
              <a:rPr sz="3600">
                <a:solidFill>
                  <a:srgbClr val="0000FF"/>
                </a:solidFill>
                <a:latin typeface="Times New Roman"/>
              </a:rPr>
              <a:t>(5)   Graph 5</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08</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Following are displacement (s) vs time (t) graphs. (Refer to question paper for graphs A, B, C.)
The graphs that show a positive acceleration, negative acceleration and zero acceleration respectively are,</a:t>
            </a:r>
          </a:p>
          <a:p/>
          <a:p>
            <a:r>
              <a:rPr sz="3600">
                <a:solidFill>
                  <a:srgbClr val="0000FF"/>
                </a:solidFill>
                <a:latin typeface="Times New Roman"/>
              </a:rPr>
              <a:t>(1)   (A), (B), (C)</a:t>
            </a:r>
          </a:p>
          <a:p>
            <a:r>
              <a:rPr sz="3600">
                <a:solidFill>
                  <a:srgbClr val="0000FF"/>
                </a:solidFill>
                <a:latin typeface="Times New Roman"/>
              </a:rPr>
              <a:t>(2)   (B), (C), (A)</a:t>
            </a:r>
          </a:p>
          <a:p>
            <a:r>
              <a:rPr sz="3600">
                <a:solidFill>
                  <a:srgbClr val="0000FF"/>
                </a:solidFill>
                <a:latin typeface="Times New Roman"/>
              </a:rPr>
              <a:t>(3)   (C), (A), (D)</a:t>
            </a:r>
          </a:p>
          <a:p>
            <a:r>
              <a:rPr sz="3600">
                <a:solidFill>
                  <a:srgbClr val="0000FF"/>
                </a:solidFill>
                <a:latin typeface="Times New Roman"/>
              </a:rPr>
              <a:t>(4)   (C), (B), (A)</a:t>
            </a:r>
          </a:p>
          <a:p>
            <a:r>
              <a:rPr sz="3600">
                <a:solidFill>
                  <a:srgbClr val="0000FF"/>
                </a:solidFill>
                <a:latin typeface="Times New Roman"/>
              </a:rPr>
              <a:t>(5)   (A), (C), (B)</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09</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Consider the statements given about linear motion of an object:
(A)  The displacement, velocity and acceleration always act in the same direction
(B)  When the velocity is zero, displacement is also zero
(C)  A velocity can exist where the acceleration is zero
(D)  When an object moves backward, the displacement is always negative</a:t>
            </a:r>
          </a:p>
          <a:p/>
          <a:p>
            <a:r>
              <a:rPr sz="3600">
                <a:solidFill>
                  <a:srgbClr val="0000FF"/>
                </a:solidFill>
                <a:latin typeface="Times New Roman"/>
              </a:rPr>
              <a:t>(1)   Only (A) is correct</a:t>
            </a:r>
          </a:p>
          <a:p>
            <a:r>
              <a:rPr sz="3600">
                <a:solidFill>
                  <a:srgbClr val="0000FF"/>
                </a:solidFill>
                <a:latin typeface="Times New Roman"/>
              </a:rPr>
              <a:t>(2)   Only (B) is correct</a:t>
            </a:r>
          </a:p>
          <a:p>
            <a:r>
              <a:rPr sz="3600">
                <a:solidFill>
                  <a:srgbClr val="0000FF"/>
                </a:solidFill>
                <a:latin typeface="Times New Roman"/>
              </a:rPr>
              <a:t>(3)   Only (C) is correct</a:t>
            </a:r>
          </a:p>
          <a:p>
            <a:r>
              <a:rPr sz="3600">
                <a:solidFill>
                  <a:srgbClr val="0000FF"/>
                </a:solidFill>
                <a:latin typeface="Times New Roman"/>
              </a:rPr>
              <a:t>(4)   Only (C) and (D) are correct</a:t>
            </a:r>
          </a:p>
          <a:p>
            <a:r>
              <a:rPr sz="3600">
                <a:solidFill>
                  <a:srgbClr val="0000FF"/>
                </a:solidFill>
                <a:latin typeface="Times New Roman"/>
              </a:rPr>
              <a:t>(5)   All (A), (B) and (C) are correct</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137160"/>
            <a:ext cx="12188952" cy="640080"/>
          </a:xfrm>
          <a:prstGeom prst="rect">
            <a:avLst/>
          </a:prstGeom>
          <a:noFill/>
        </p:spPr>
        <p:txBody>
          <a:bodyPr wrap="none">
            <a:spAutoFit/>
          </a:bodyPr>
          <a:lstStyle/>
          <a:p>
            <a:pPr algn="ctr"/>
            <a:r>
              <a:rPr sz="2800" b="1">
                <a:solidFill>
                  <a:srgbClr val="FF0000"/>
                </a:solidFill>
                <a:latin typeface="Bell MT"/>
              </a:rPr>
              <a:t>Question  10</a:t>
            </a:r>
          </a:p>
        </p:txBody>
      </p:sp>
      <p:sp>
        <p:nvSpPr>
          <p:cNvPr id="3" name="TextBox 2"/>
          <p:cNvSpPr txBox="1"/>
          <p:nvPr/>
        </p:nvSpPr>
        <p:spPr>
          <a:xfrm>
            <a:off x="365760" y="868680"/>
            <a:ext cx="11430000" cy="5212080"/>
          </a:xfrm>
          <a:prstGeom prst="rect">
            <a:avLst/>
          </a:prstGeom>
          <a:noFill/>
        </p:spPr>
        <p:txBody>
          <a:bodyPr wrap="square">
            <a:spAutoFit/>
          </a:bodyPr>
          <a:lstStyle/>
          <a:p>
            <a:r>
              <a:rPr sz="3600">
                <a:solidFill>
                  <a:srgbClr val="0000FF"/>
                </a:solidFill>
                <a:latin typeface="Times New Roman"/>
              </a:rPr>
              <a:t>Velocity time graph of a motion is shown in the figure. (Refer to question paper for figure.)
Its displacement time graph is best represented by:</a:t>
            </a:r>
          </a:p>
          <a:p/>
          <a:p>
            <a:r>
              <a:rPr sz="3600">
                <a:solidFill>
                  <a:srgbClr val="0000FF"/>
                </a:solidFill>
                <a:latin typeface="Times New Roman"/>
              </a:rPr>
              <a:t>(1)   Graph 1</a:t>
            </a:r>
          </a:p>
          <a:p>
            <a:r>
              <a:rPr sz="3600">
                <a:solidFill>
                  <a:srgbClr val="0000FF"/>
                </a:solidFill>
                <a:latin typeface="Times New Roman"/>
              </a:rPr>
              <a:t>(2)   Graph 2</a:t>
            </a:r>
          </a:p>
          <a:p>
            <a:r>
              <a:rPr sz="3600">
                <a:solidFill>
                  <a:srgbClr val="0000FF"/>
                </a:solidFill>
                <a:latin typeface="Times New Roman"/>
              </a:rPr>
              <a:t>(3)   Graph 3</a:t>
            </a:r>
          </a:p>
          <a:p>
            <a:r>
              <a:rPr sz="3600">
                <a:solidFill>
                  <a:srgbClr val="0000FF"/>
                </a:solidFill>
                <a:latin typeface="Times New Roman"/>
              </a:rPr>
              <a:t>(4)   Graph 4</a:t>
            </a:r>
          </a:p>
          <a:p>
            <a:r>
              <a:rPr sz="3600">
                <a:solidFill>
                  <a:srgbClr val="0000FF"/>
                </a:solidFill>
                <a:latin typeface="Times New Roman"/>
              </a:rPr>
              <a:t>(5)   Graph 5</a:t>
            </a:r>
          </a:p>
        </p:txBody>
      </p:sp>
      <p:sp>
        <p:nvSpPr>
          <p:cNvPr id="4" name="TextBox 3"/>
          <p:cNvSpPr txBox="1"/>
          <p:nvPr/>
        </p:nvSpPr>
        <p:spPr>
          <a:xfrm>
            <a:off x="9418320" y="5943600"/>
            <a:ext cx="2560320" cy="731520"/>
          </a:xfrm>
          <a:prstGeom prst="rect">
            <a:avLst/>
          </a:prstGeom>
          <a:noFill/>
        </p:spPr>
        <p:txBody>
          <a:bodyPr wrap="none">
            <a:spAutoFit/>
          </a:bodyPr>
          <a:lstStyle/>
          <a:p>
            <a:pPr algn="r"/>
            <a:r>
              <a:rPr sz="3600" b="1">
                <a:solidFill>
                  <a:srgbClr val="000000"/>
                </a:solidFill>
                <a:latin typeface="Times New Roman"/>
              </a:rPr>
              <a:t>Ans: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